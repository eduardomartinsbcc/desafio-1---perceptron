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media9.mp4" ContentType="video/mp4"/>
  <Override PartName="/ppt/media/image18.svg" ContentType="image/svg"/>
  <Override PartName="/ppt/media/image20.svg" ContentType="image/svg"/>
  <Override PartName="/ppt/media/image22.svg" ContentType="image/svg"/>
  <Override PartName="/ppt/media/image3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7559675" cy="10691813"/>
  <p:embeddedFontLst>
    <p:embeddedFont>
      <p:font typeface="Open Sans Bold"/>
    </p:embeddedFont>
    <p:embeddedFont>
      <p:font typeface="Bebas Neue Cyrillic"/>
      <p:regular r:id="rId14"/>
    </p:embeddedFont>
    <p:embeddedFont>
      <p:font typeface="League Spartan"/>
      <p:bold r:id="rId1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_1_Bebas_Neue_Cyrillic_Regular.fntdata"/><Relationship Id="rId15" Type="http://schemas.openxmlformats.org/officeDocument/2006/relationships/font" Target="fonts/Font_2_League_Spartan_Bold.fntdata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282868-07B4-4497-A932-87031D6AC7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D5D04-645B-4BC3-AC7A-DAD0E63686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AB1C88-920C-4B5E-91FD-785FD92F96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10517-0382-4154-A6B8-0F5D5439DF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290C9-5ED5-473C-912F-4D3B4773A8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754EC5-7EBF-4F16-AE34-6B2B8E8C5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3625C6-A2B1-41F6-B241-DE81A08125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8623CC-AC50-482B-9139-AB3820D0B2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F2936-2776-40F0-9198-C7A2CB586C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2D2D1-F2FB-43AF-AE3C-5CE90DA7CC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F5DE2-B2F4-4104-B8DF-51EC305539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video" Target="../media/media9.mp4"/><Relationship Id="rId4" Type="http://schemas.microsoft.com/office/2007/relationships/media" Target="../media/media9.mp4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19.png"/><Relationship Id="rId8" Type="http://schemas.openxmlformats.org/officeDocument/2006/relationships/image" Target="../media/image20.svg"/><Relationship Id="rId9" Type="http://schemas.openxmlformats.org/officeDocument/2006/relationships/image" Target="../media/image21.png"/><Relationship Id="rId10" Type="http://schemas.openxmlformats.org/officeDocument/2006/relationships/image" Target="../media/image22.svg"/><Relationship Id="rId1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Relationship Id="rId9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-3985560" y="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3"/>
          <p:cNvSpPr/>
          <p:nvPr/>
        </p:nvSpPr>
        <p:spPr>
          <a:xfrm>
            <a:off x="12484800" y="7409160"/>
            <a:ext cx="3359160" cy="928080"/>
          </a:xfrm>
          <a:custGeom>
            <a:avLst/>
            <a:gdLst>
              <a:gd name="textAreaLeft" fmla="*/ 0 w 3359160"/>
              <a:gd name="textAreaRight" fmla="*/ 3359520 w 3359160"/>
              <a:gd name="textAreaTop" fmla="*/ 0 h 928080"/>
              <a:gd name="textAreaBottom" fmla="*/ 928440 h 928080"/>
            </a:gdLst>
            <a:ahLst/>
            <a:cxnLst/>
            <a:rect l="textAreaLeft" t="textAreaTop" r="textAreaRight" b="textAreaBottom"/>
            <a:pathLst>
              <a:path w="3359354" h="928403">
                <a:moveTo>
                  <a:pt x="0" y="0"/>
                </a:moveTo>
                <a:lnTo>
                  <a:pt x="3359355" y="0"/>
                </a:lnTo>
                <a:lnTo>
                  <a:pt x="3359355" y="928404"/>
                </a:lnTo>
                <a:lnTo>
                  <a:pt x="0" y="9284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4"/>
          <p:cNvSpPr/>
          <p:nvPr/>
        </p:nvSpPr>
        <p:spPr>
          <a:xfrm>
            <a:off x="15030720" y="7961040"/>
            <a:ext cx="441720" cy="752760"/>
          </a:xfrm>
          <a:custGeom>
            <a:avLst/>
            <a:gdLst>
              <a:gd name="textAreaLeft" fmla="*/ 0 w 441720"/>
              <a:gd name="textAreaRight" fmla="*/ 442080 w 441720"/>
              <a:gd name="textAreaTop" fmla="*/ 0 h 752760"/>
              <a:gd name="textAreaBottom" fmla="*/ 753120 h 752760"/>
            </a:gdLst>
            <a:ahLst/>
            <a:cxnLst/>
            <a:rect l="textAreaLeft" t="textAreaTop" r="textAreaRight" b="textAreaBottom"/>
            <a:pathLst>
              <a:path w="442190" h="752956">
                <a:moveTo>
                  <a:pt x="0" y="0"/>
                </a:moveTo>
                <a:lnTo>
                  <a:pt x="442191" y="0"/>
                </a:lnTo>
                <a:lnTo>
                  <a:pt x="442191" y="752956"/>
                </a:lnTo>
                <a:lnTo>
                  <a:pt x="0" y="752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10577880" y="4544640"/>
            <a:ext cx="7173360" cy="29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594"/>
              </a:lnSpc>
            </a:pPr>
            <a:r>
              <a:rPr lang="en-US" sz="8350" b="0" u="none" strike="noStrike">
                <a:solidFill>
                  <a:srgbClr val="49D5ED"/>
                </a:solidFill>
                <a:effectLst/>
                <a:uFillTx/>
                <a:latin typeface="Bebas Neue Cyrillic"/>
                <a:ea typeface="Bebas Neue Cyrillic"/>
              </a:rPr>
              <a:t>Perceptron </a:t>
            </a:r>
            <a:r>
              <a:rPr lang="en-US" sz="83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para problemas </a:t>
            </a:r>
            <a:r>
              <a:rPr lang="en-US" sz="8350" b="0" u="none" strike="noStrike">
                <a:solidFill>
                  <a:srgbClr val="49D5ED"/>
                </a:solidFill>
                <a:effectLst/>
                <a:uFillTx/>
                <a:latin typeface="Bebas Neue Cyrillic"/>
                <a:ea typeface="Bebas Neue Cyrillic"/>
              </a:rPr>
              <a:t>não lineares </a:t>
            </a:r>
            <a:endParaRPr lang="pt-BR" sz="8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10845360" y="3071520"/>
            <a:ext cx="6638040" cy="15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2662"/>
              </a:lnSpc>
            </a:pP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League Spartan"/>
                <a:ea typeface="League Spartan"/>
              </a:rPr>
              <a:t>DESAFIO 1: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1381896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-977400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4879440" y="4714560"/>
            <a:ext cx="852876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O que é O </a:t>
            </a:r>
            <a:r>
              <a:rPr lang="en-US" sz="9050" b="0" u="none" strike="noStrike">
                <a:solidFill>
                  <a:srgbClr val="49D5ED"/>
                </a:solidFill>
                <a:effectLst/>
                <a:uFillTx/>
                <a:latin typeface="Bebas Neue Cyrillic"/>
                <a:ea typeface="Bebas Neue Cyrillic"/>
              </a:rPr>
              <a:t>Perceptron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5"/>
          <p:cNvSpPr/>
          <p:nvPr/>
        </p:nvSpPr>
        <p:spPr>
          <a:xfrm>
            <a:off x="8604360" y="5732640"/>
            <a:ext cx="1078920" cy="1111320"/>
          </a:xfrm>
          <a:custGeom>
            <a:avLst/>
            <a:gdLst>
              <a:gd name="textAreaLeft" fmla="*/ 0 w 1078920"/>
              <a:gd name="textAreaRight" fmla="*/ 1079280 w 1078920"/>
              <a:gd name="textAreaTop" fmla="*/ 0 h 1111320"/>
              <a:gd name="textAreaBottom" fmla="*/ 1111680 h 1111320"/>
            </a:gdLst>
            <a:ahLst/>
            <a:cxnLst/>
            <a:rect l="textAreaLeft" t="textAreaTop" r="textAreaRight" b="textAreaBottom"/>
            <a:pathLst>
              <a:path w="1079226" h="1111562">
                <a:moveTo>
                  <a:pt x="0" y="0"/>
                </a:moveTo>
                <a:lnTo>
                  <a:pt x="1079226" y="0"/>
                </a:lnTo>
                <a:lnTo>
                  <a:pt x="1079226" y="1111562"/>
                </a:lnTo>
                <a:lnTo>
                  <a:pt x="0" y="11115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5146200" y="1002852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2"/>
          <p:cNvSpPr/>
          <p:nvPr/>
        </p:nvSpPr>
        <p:spPr>
          <a:xfrm>
            <a:off x="-151920" y="8637840"/>
            <a:ext cx="18591480" cy="13943520"/>
          </a:xfrm>
          <a:custGeom>
            <a:avLst/>
            <a:gdLst>
              <a:gd name="textAreaLeft" fmla="*/ 0 w 18591480"/>
              <a:gd name="textAreaRight" fmla="*/ 18591840 w 18591480"/>
              <a:gd name="textAreaTop" fmla="*/ 0 h 13943520"/>
              <a:gd name="textAreaBottom" fmla="*/ 13943880 h 13943520"/>
            </a:gdLst>
            <a:ahLst/>
            <a:cxnLst/>
            <a:rect l="textAreaLeft" t="textAreaTop" r="textAreaRight" b="textAreaBottom"/>
            <a:pathLst>
              <a:path w="18591703" h="13943777">
                <a:moveTo>
                  <a:pt x="0" y="0"/>
                </a:moveTo>
                <a:lnTo>
                  <a:pt x="18591702" y="0"/>
                </a:lnTo>
                <a:lnTo>
                  <a:pt x="18591702" y="13943777"/>
                </a:lnTo>
                <a:lnTo>
                  <a:pt x="0" y="139437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76280" y="1315800"/>
            <a:ext cx="9403200" cy="6657120"/>
          </a:xfrm>
          <a:prstGeom prst="rect">
            <a:avLst/>
          </a:prstGeom>
          <a:ln w="0">
            <a:noFill/>
          </a:ln>
        </p:spPr>
      </p:pic>
      <p:sp>
        <p:nvSpPr>
          <p:cNvPr id="74" name="Freeform 4"/>
          <p:cNvSpPr/>
          <p:nvPr/>
        </p:nvSpPr>
        <p:spPr>
          <a:xfrm>
            <a:off x="2160000" y="5016600"/>
            <a:ext cx="3780000" cy="3263400"/>
          </a:xfrm>
          <a:custGeom>
            <a:avLst/>
            <a:gdLst>
              <a:gd name="textAreaLeft" fmla="*/ 0 w 3780000"/>
              <a:gd name="textAreaRight" fmla="*/ 3780360 w 3780000"/>
              <a:gd name="textAreaTop" fmla="*/ 0 h 3263400"/>
              <a:gd name="textAreaBottom" fmla="*/ 3263760 h 3263400"/>
            </a:gdLst>
            <a:ahLst/>
            <a:cxnLst/>
            <a:rect l="textAreaLeft" t="textAreaTop" r="textAreaRight" b="textAreaBottom"/>
            <a:pathLst>
              <a:path w="4449293" h="3841558">
                <a:moveTo>
                  <a:pt x="0" y="0"/>
                </a:moveTo>
                <a:lnTo>
                  <a:pt x="4449293" y="0"/>
                </a:lnTo>
                <a:lnTo>
                  <a:pt x="4449293" y="3841558"/>
                </a:lnTo>
                <a:lnTo>
                  <a:pt x="0" y="38415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47160" y="396000"/>
            <a:ext cx="852876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O que é O </a:t>
            </a:r>
            <a:r>
              <a:rPr lang="en-US" sz="9050" b="0" u="none" strike="noStrike">
                <a:solidFill>
                  <a:srgbClr val="49D5ED"/>
                </a:solidFill>
                <a:effectLst/>
                <a:uFillTx/>
                <a:latin typeface="Bebas Neue Cyrillic"/>
                <a:ea typeface="Bebas Neue Cyrillic"/>
              </a:rPr>
              <a:t>Perceptron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40400" y="1932120"/>
            <a:ext cx="8528760" cy="24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906840" lvl="1" indent="-453240" defTabSz="914400">
              <a:lnSpc>
                <a:spcPts val="3821"/>
              </a:lnSpc>
              <a:buClr>
                <a:srgbClr val="FFFFFF"/>
              </a:buClr>
              <a:buFont typeface="Arial"/>
              <a:buChar char="•"/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Divide pontos de </a:t>
            </a:r>
            <a:r>
              <a:rPr lang="en-US" sz="4200" b="1" u="none" strike="noStrike">
                <a:solidFill>
                  <a:srgbClr val="49D5ED"/>
                </a:solidFill>
                <a:effectLst/>
                <a:uFillTx/>
                <a:latin typeface="Open Sans Bold"/>
                <a:ea typeface="Open Sans Bold"/>
              </a:rPr>
              <a:t>duas classes diferentes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 em </a:t>
            </a:r>
            <a:r>
              <a:rPr lang="en-US" sz="4200" b="1" u="none" strike="noStrike">
                <a:solidFill>
                  <a:srgbClr val="F7C87C"/>
                </a:solidFill>
                <a:effectLst/>
                <a:uFillTx/>
                <a:latin typeface="Open Sans Bold"/>
                <a:ea typeface="Open Sans Bold"/>
              </a:rPr>
              <a:t>dois lados com uma reta</a:t>
            </a:r>
            <a:endParaRPr lang="pt-B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06840" lvl="1" indent="-453240" defTabSz="914400">
              <a:lnSpc>
                <a:spcPts val="3821"/>
              </a:lnSpc>
              <a:buClr>
                <a:srgbClr val="49D5ED"/>
              </a:buClr>
              <a:buFont typeface="Arial"/>
              <a:buChar char="•"/>
            </a:pPr>
            <a:r>
              <a:rPr lang="en-US" sz="4200" b="1" u="none" strike="noStrike">
                <a:solidFill>
                  <a:srgbClr val="49D5ED"/>
                </a:solidFill>
                <a:effectLst/>
                <a:uFillTx/>
                <a:latin typeface="Open Sans Bold"/>
                <a:ea typeface="Open Sans Bold"/>
              </a:rPr>
              <a:t>Neurônio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= Menor “unidade biológica de inteligência” </a:t>
            </a:r>
            <a:endParaRPr lang="pt-B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video>
              <p:cMediaNode>
                <p:cTn>
                  <p:stCondLst>
                    <p:cond delay="indefinite"/>
                  </p:stCondLst>
                </p:cTn>
                <p:tgtEl>
                  <p:spTgt spid="7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2"/>
          <p:cNvSpPr/>
          <p:nvPr/>
        </p:nvSpPr>
        <p:spPr>
          <a:xfrm>
            <a:off x="1381896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3"/>
          <p:cNvSpPr/>
          <p:nvPr/>
        </p:nvSpPr>
        <p:spPr>
          <a:xfrm>
            <a:off x="-977400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4879440" y="3647160"/>
            <a:ext cx="8528760" cy="21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qual foi o </a:t>
            </a: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desafio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 proposto?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5"/>
          <p:cNvSpPr/>
          <p:nvPr/>
        </p:nvSpPr>
        <p:spPr>
          <a:xfrm>
            <a:off x="8604360" y="5732640"/>
            <a:ext cx="1078920" cy="1111320"/>
          </a:xfrm>
          <a:custGeom>
            <a:avLst/>
            <a:gdLst>
              <a:gd name="textAreaLeft" fmla="*/ 0 w 1078920"/>
              <a:gd name="textAreaRight" fmla="*/ 1079280 w 1078920"/>
              <a:gd name="textAreaTop" fmla="*/ 0 h 1111320"/>
              <a:gd name="textAreaBottom" fmla="*/ 1111680 h 1111320"/>
            </a:gdLst>
            <a:ahLst/>
            <a:cxnLst/>
            <a:rect l="textAreaLeft" t="textAreaTop" r="textAreaRight" b="textAreaBottom"/>
            <a:pathLst>
              <a:path w="1079226" h="1111562">
                <a:moveTo>
                  <a:pt x="0" y="0"/>
                </a:moveTo>
                <a:lnTo>
                  <a:pt x="1079226" y="0"/>
                </a:lnTo>
                <a:lnTo>
                  <a:pt x="1079226" y="1111562"/>
                </a:lnTo>
                <a:lnTo>
                  <a:pt x="0" y="11115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5146200" y="1002852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2"/>
          <p:cNvSpPr/>
          <p:nvPr/>
        </p:nvSpPr>
        <p:spPr>
          <a:xfrm rot="5400000">
            <a:off x="-3397680" y="685440"/>
            <a:ext cx="5486040" cy="4114440"/>
          </a:xfrm>
          <a:custGeom>
            <a:avLst/>
            <a:gdLst>
              <a:gd name="textAreaLeft" fmla="*/ 0 w 5486040"/>
              <a:gd name="textAreaRight" fmla="*/ 5486400 w 5486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5486400" h="41148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reeform 3"/>
          <p:cNvSpPr/>
          <p:nvPr/>
        </p:nvSpPr>
        <p:spPr>
          <a:xfrm flipH="1" rot="5400000">
            <a:off x="-3398760" y="6172560"/>
            <a:ext cx="5486040" cy="4114440"/>
          </a:xfrm>
          <a:custGeom>
            <a:avLst/>
            <a:gdLst>
              <a:gd name="textAreaLeft" fmla="*/ 360 w 5486040"/>
              <a:gd name="textAreaRight" fmla="*/ 5486760 w 5486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5486400" h="4114800">
                <a:moveTo>
                  <a:pt x="5486400" y="0"/>
                </a:moveTo>
                <a:lnTo>
                  <a:pt x="0" y="0"/>
                </a:lnTo>
                <a:lnTo>
                  <a:pt x="0" y="4114800"/>
                </a:lnTo>
                <a:lnTo>
                  <a:pt x="5486400" y="4114800"/>
                </a:lnTo>
                <a:lnTo>
                  <a:pt x="54864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reeform 4"/>
          <p:cNvSpPr/>
          <p:nvPr/>
        </p:nvSpPr>
        <p:spPr>
          <a:xfrm>
            <a:off x="1640880" y="1275480"/>
            <a:ext cx="7567200" cy="3414600"/>
          </a:xfrm>
          <a:custGeom>
            <a:avLst/>
            <a:gdLst>
              <a:gd name="textAreaLeft" fmla="*/ 0 w 7567200"/>
              <a:gd name="textAreaRight" fmla="*/ 7567560 w 7567200"/>
              <a:gd name="textAreaTop" fmla="*/ 0 h 3414600"/>
              <a:gd name="textAreaBottom" fmla="*/ 3414960 h 3414600"/>
            </a:gdLst>
            <a:ahLst/>
            <a:cxnLst/>
            <a:rect l="textAreaLeft" t="textAreaTop" r="textAreaRight" b="textAreaBottom"/>
            <a:pathLst>
              <a:path w="7567406" h="3414818">
                <a:moveTo>
                  <a:pt x="0" y="0"/>
                </a:moveTo>
                <a:lnTo>
                  <a:pt x="7567406" y="0"/>
                </a:lnTo>
                <a:lnTo>
                  <a:pt x="7567406" y="3414818"/>
                </a:lnTo>
                <a:lnTo>
                  <a:pt x="0" y="34148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5"/>
          <p:cNvSpPr/>
          <p:nvPr/>
        </p:nvSpPr>
        <p:spPr>
          <a:xfrm>
            <a:off x="9861120" y="1275480"/>
            <a:ext cx="7516440" cy="3414600"/>
          </a:xfrm>
          <a:custGeom>
            <a:avLst/>
            <a:gdLst>
              <a:gd name="textAreaLeft" fmla="*/ 0 w 7516440"/>
              <a:gd name="textAreaRight" fmla="*/ 7516800 w 7516440"/>
              <a:gd name="textAreaTop" fmla="*/ 0 h 3414600"/>
              <a:gd name="textAreaBottom" fmla="*/ 3414960 h 3414600"/>
            </a:gdLst>
            <a:ahLst/>
            <a:cxnLst/>
            <a:rect l="textAreaLeft" t="textAreaTop" r="textAreaRight" b="textAreaBottom"/>
            <a:pathLst>
              <a:path w="7516765" h="3414818">
                <a:moveTo>
                  <a:pt x="0" y="0"/>
                </a:moveTo>
                <a:lnTo>
                  <a:pt x="7516765" y="0"/>
                </a:lnTo>
                <a:lnTo>
                  <a:pt x="7516765" y="3414818"/>
                </a:lnTo>
                <a:lnTo>
                  <a:pt x="0" y="34148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6"/>
          <p:cNvSpPr/>
          <p:nvPr/>
        </p:nvSpPr>
        <p:spPr>
          <a:xfrm>
            <a:off x="1620000" y="6221160"/>
            <a:ext cx="7567200" cy="3498840"/>
          </a:xfrm>
          <a:custGeom>
            <a:avLst/>
            <a:gdLst>
              <a:gd name="textAreaLeft" fmla="*/ 0 w 7567200"/>
              <a:gd name="textAreaRight" fmla="*/ 7567560 w 7567200"/>
              <a:gd name="textAreaTop" fmla="*/ 0 h 3498840"/>
              <a:gd name="textAreaBottom" fmla="*/ 3499200 h 3498840"/>
            </a:gdLst>
            <a:ahLst/>
            <a:cxnLst/>
            <a:rect l="textAreaLeft" t="textAreaTop" r="textAreaRight" b="textAreaBottom"/>
            <a:pathLst>
              <a:path w="7567406" h="3499135">
                <a:moveTo>
                  <a:pt x="0" y="0"/>
                </a:moveTo>
                <a:lnTo>
                  <a:pt x="7567406" y="0"/>
                </a:lnTo>
                <a:lnTo>
                  <a:pt x="7567406" y="3499134"/>
                </a:lnTo>
                <a:lnTo>
                  <a:pt x="0" y="34991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7"/>
          <p:cNvSpPr/>
          <p:nvPr/>
        </p:nvSpPr>
        <p:spPr>
          <a:xfrm>
            <a:off x="9840240" y="6221160"/>
            <a:ext cx="7516440" cy="3498840"/>
          </a:xfrm>
          <a:custGeom>
            <a:avLst/>
            <a:gdLst>
              <a:gd name="textAreaLeft" fmla="*/ 0 w 7516440"/>
              <a:gd name="textAreaRight" fmla="*/ 7516800 w 7516440"/>
              <a:gd name="textAreaTop" fmla="*/ 0 h 3498840"/>
              <a:gd name="textAreaBottom" fmla="*/ 3499200 h 3498840"/>
            </a:gdLst>
            <a:ahLst/>
            <a:cxnLst/>
            <a:rect l="textAreaLeft" t="textAreaTop" r="textAreaRight" b="textAreaBottom"/>
            <a:pathLst>
              <a:path w="7516765" h="3499135">
                <a:moveTo>
                  <a:pt x="0" y="0"/>
                </a:moveTo>
                <a:lnTo>
                  <a:pt x="7516765" y="0"/>
                </a:lnTo>
                <a:lnTo>
                  <a:pt x="7516765" y="3499134"/>
                </a:lnTo>
                <a:lnTo>
                  <a:pt x="0" y="34991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9861120" y="5428800"/>
            <a:ext cx="227376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551"/>
              </a:lnSpc>
            </a:pPr>
            <a:r>
              <a:rPr lang="en-US" sz="720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Espiral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1640880" y="5428800"/>
            <a:ext cx="262944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551"/>
              </a:lnSpc>
            </a:pPr>
            <a:r>
              <a:rPr lang="en-US" sz="720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Círculos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9861120" y="592920"/>
            <a:ext cx="301464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551"/>
              </a:lnSpc>
            </a:pPr>
            <a:r>
              <a:rPr lang="en-US" sz="720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Duas Luas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1"/>
          <p:cNvSpPr/>
          <p:nvPr/>
        </p:nvSpPr>
        <p:spPr>
          <a:xfrm>
            <a:off x="1640880" y="592920"/>
            <a:ext cx="2629440" cy="89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551"/>
              </a:lnSpc>
            </a:pPr>
            <a:r>
              <a:rPr lang="en-US" sz="720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XOR</a:t>
            </a:r>
            <a:endParaRPr lang="pt-BR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5146200" y="1002852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 rot="5400000">
            <a:off x="-3397680" y="685440"/>
            <a:ext cx="5486040" cy="4114440"/>
          </a:xfrm>
          <a:custGeom>
            <a:avLst/>
            <a:gdLst>
              <a:gd name="textAreaLeft" fmla="*/ 0 w 5486040"/>
              <a:gd name="textAreaRight" fmla="*/ 5486400 w 5486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5486400" h="4114800">
                <a:moveTo>
                  <a:pt x="0" y="0"/>
                </a:moveTo>
                <a:lnTo>
                  <a:pt x="5486400" y="0"/>
                </a:lnTo>
                <a:lnTo>
                  <a:pt x="5486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3"/>
          <p:cNvSpPr/>
          <p:nvPr/>
        </p:nvSpPr>
        <p:spPr>
          <a:xfrm flipH="1" rot="5400000">
            <a:off x="-3398760" y="6172560"/>
            <a:ext cx="5486040" cy="4114440"/>
          </a:xfrm>
          <a:custGeom>
            <a:avLst/>
            <a:gdLst>
              <a:gd name="textAreaLeft" fmla="*/ 360 w 5486040"/>
              <a:gd name="textAreaRight" fmla="*/ 5486760 w 54860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5486400" h="4114800">
                <a:moveTo>
                  <a:pt x="5486400" y="0"/>
                </a:moveTo>
                <a:lnTo>
                  <a:pt x="0" y="0"/>
                </a:lnTo>
                <a:lnTo>
                  <a:pt x="0" y="4114800"/>
                </a:lnTo>
                <a:lnTo>
                  <a:pt x="5486400" y="4114800"/>
                </a:lnTo>
                <a:lnTo>
                  <a:pt x="548640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reeform 4"/>
          <p:cNvSpPr/>
          <p:nvPr/>
        </p:nvSpPr>
        <p:spPr>
          <a:xfrm>
            <a:off x="5482800" y="1995120"/>
            <a:ext cx="7321680" cy="7321680"/>
          </a:xfrm>
          <a:custGeom>
            <a:avLst/>
            <a:gdLst>
              <a:gd name="textAreaLeft" fmla="*/ 0 w 7321680"/>
              <a:gd name="textAreaRight" fmla="*/ 7322040 w 7321680"/>
              <a:gd name="textAreaTop" fmla="*/ 0 h 7321680"/>
              <a:gd name="textAreaBottom" fmla="*/ 7322040 h 7321680"/>
            </a:gdLst>
            <a:ahLst/>
            <a:cxnLst/>
            <a:rect l="textAreaLeft" t="textAreaTop" r="textAreaRight" b="textAreaBottom"/>
            <a:pathLst>
              <a:path w="7322182" h="7322182">
                <a:moveTo>
                  <a:pt x="0" y="0"/>
                </a:moveTo>
                <a:lnTo>
                  <a:pt x="7322182" y="0"/>
                </a:lnTo>
                <a:lnTo>
                  <a:pt x="7322182" y="7322183"/>
                </a:lnTo>
                <a:lnTo>
                  <a:pt x="0" y="73221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cap="sq" w="3810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5000040" y="1188720"/>
            <a:ext cx="828720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546"/>
              </a:lnSpc>
            </a:pPr>
            <a:r>
              <a:rPr lang="en-US" sz="829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Esfera de 10 dimensões</a:t>
            </a:r>
            <a:endParaRPr lang="pt-BR" sz="82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5146200" y="1002852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2"/>
          <p:cNvSpPr/>
          <p:nvPr/>
        </p:nvSpPr>
        <p:spPr>
          <a:xfrm>
            <a:off x="1381896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Freeform 3"/>
          <p:cNvSpPr/>
          <p:nvPr/>
        </p:nvSpPr>
        <p:spPr>
          <a:xfrm>
            <a:off x="-9774000" y="-19836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244200" y="4903560"/>
            <a:ext cx="58014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Como foi </a:t>
            </a: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feito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5146200" y="1002852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oup 6"/>
          <p:cNvGrpSpPr/>
          <p:nvPr/>
        </p:nvGrpSpPr>
        <p:grpSpPr>
          <a:xfrm>
            <a:off x="7908480" y="5895720"/>
            <a:ext cx="2470680" cy="748440"/>
            <a:chOff x="7908480" y="5895720"/>
            <a:chExt cx="2470680" cy="748440"/>
          </a:xfrm>
        </p:grpSpPr>
        <p:sp>
          <p:nvSpPr>
            <p:cNvPr id="104" name="Freeform 7"/>
            <p:cNvSpPr/>
            <p:nvPr/>
          </p:nvSpPr>
          <p:spPr>
            <a:xfrm>
              <a:off x="7908480" y="5896800"/>
              <a:ext cx="747360" cy="747360"/>
            </a:xfrm>
            <a:custGeom>
              <a:avLst/>
              <a:gdLst>
                <a:gd name="textAreaLeft" fmla="*/ 0 w 747360"/>
                <a:gd name="textAreaRight" fmla="*/ 747720 w 747360"/>
                <a:gd name="textAreaTop" fmla="*/ 0 h 747360"/>
                <a:gd name="textAreaBottom" fmla="*/ 747720 h 747360"/>
              </a:gdLst>
              <a:ahLst/>
              <a:cxnLst/>
              <a:rect l="textAreaLeft" t="textAreaTop" r="textAreaRight" b="textAreaBottom"/>
              <a:pathLst>
                <a:path w="997104" h="997104">
                  <a:moveTo>
                    <a:pt x="0" y="0"/>
                  </a:moveTo>
                  <a:lnTo>
                    <a:pt x="997104" y="0"/>
                  </a:lnTo>
                  <a:lnTo>
                    <a:pt x="997104" y="997103"/>
                  </a:lnTo>
                  <a:lnTo>
                    <a:pt x="0" y="9971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8"/>
            <p:cNvSpPr/>
            <p:nvPr/>
          </p:nvSpPr>
          <p:spPr>
            <a:xfrm>
              <a:off x="8770680" y="5895720"/>
              <a:ext cx="748440" cy="748440"/>
            </a:xfrm>
            <a:custGeom>
              <a:avLst/>
              <a:gdLst>
                <a:gd name="textAreaLeft" fmla="*/ 0 w 748440"/>
                <a:gd name="textAreaRight" fmla="*/ 748800 w 748440"/>
                <a:gd name="textAreaTop" fmla="*/ 0 h 748440"/>
                <a:gd name="textAreaBottom" fmla="*/ 748800 h 748440"/>
              </a:gdLst>
              <a:ahLst/>
              <a:cxnLst/>
              <a:rect l="textAreaLeft" t="textAreaTop" r="textAreaRight" b="textAreaBottom"/>
              <a:pathLst>
                <a:path w="998617" h="998617">
                  <a:moveTo>
                    <a:pt x="0" y="0"/>
                  </a:moveTo>
                  <a:lnTo>
                    <a:pt x="998617" y="0"/>
                  </a:lnTo>
                  <a:lnTo>
                    <a:pt x="998617" y="998617"/>
                  </a:lnTo>
                  <a:lnTo>
                    <a:pt x="0" y="99861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9"/>
            <p:cNvSpPr/>
            <p:nvPr/>
          </p:nvSpPr>
          <p:spPr>
            <a:xfrm>
              <a:off x="9630720" y="5895720"/>
              <a:ext cx="748440" cy="748440"/>
            </a:xfrm>
            <a:custGeom>
              <a:avLst/>
              <a:gdLst>
                <a:gd name="textAreaLeft" fmla="*/ 0 w 748440"/>
                <a:gd name="textAreaRight" fmla="*/ 748800 w 748440"/>
                <a:gd name="textAreaTop" fmla="*/ 0 h 748440"/>
                <a:gd name="textAreaBottom" fmla="*/ 748800 h 748440"/>
              </a:gdLst>
              <a:ahLst/>
              <a:cxnLst/>
              <a:rect l="textAreaLeft" t="textAreaTop" r="textAreaRight" b="textAreaBottom"/>
              <a:pathLst>
                <a:path w="998617" h="998617">
                  <a:moveTo>
                    <a:pt x="0" y="0"/>
                  </a:moveTo>
                  <a:lnTo>
                    <a:pt x="998617" y="0"/>
                  </a:lnTo>
                  <a:lnTo>
                    <a:pt x="998617" y="998617"/>
                  </a:lnTo>
                  <a:lnTo>
                    <a:pt x="0" y="99861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 2"/>
          <p:cNvSpPr/>
          <p:nvPr/>
        </p:nvSpPr>
        <p:spPr>
          <a:xfrm>
            <a:off x="-151920" y="8637840"/>
            <a:ext cx="18591480" cy="13943520"/>
          </a:xfrm>
          <a:custGeom>
            <a:avLst/>
            <a:gdLst>
              <a:gd name="textAreaLeft" fmla="*/ 0 w 18591480"/>
              <a:gd name="textAreaRight" fmla="*/ 18591840 w 18591480"/>
              <a:gd name="textAreaTop" fmla="*/ 0 h 13943520"/>
              <a:gd name="textAreaBottom" fmla="*/ 13943880 h 13943520"/>
            </a:gdLst>
            <a:ahLst/>
            <a:cxnLst/>
            <a:rect l="textAreaLeft" t="textAreaTop" r="textAreaRight" b="textAreaBottom"/>
            <a:pathLst>
              <a:path w="18591703" h="13943777">
                <a:moveTo>
                  <a:pt x="0" y="0"/>
                </a:moveTo>
                <a:lnTo>
                  <a:pt x="18591702" y="0"/>
                </a:lnTo>
                <a:lnTo>
                  <a:pt x="18591702" y="13943777"/>
                </a:lnTo>
                <a:lnTo>
                  <a:pt x="0" y="139437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Freeform 3"/>
          <p:cNvSpPr/>
          <p:nvPr/>
        </p:nvSpPr>
        <p:spPr>
          <a:xfrm>
            <a:off x="687960" y="1373040"/>
            <a:ext cx="6865560" cy="1897200"/>
          </a:xfrm>
          <a:custGeom>
            <a:avLst/>
            <a:gdLst>
              <a:gd name="textAreaLeft" fmla="*/ 0 w 6865560"/>
              <a:gd name="textAreaRight" fmla="*/ 6865920 w 6865560"/>
              <a:gd name="textAreaTop" fmla="*/ 0 h 1897200"/>
              <a:gd name="textAreaBottom" fmla="*/ 1897560 h 1897200"/>
            </a:gdLst>
            <a:ahLst/>
            <a:cxnLst/>
            <a:rect l="textAreaLeft" t="textAreaTop" r="textAreaRight" b="textAreaBottom"/>
            <a:pathLst>
              <a:path w="6865858" h="1897599">
                <a:moveTo>
                  <a:pt x="0" y="0"/>
                </a:moveTo>
                <a:lnTo>
                  <a:pt x="6865858" y="0"/>
                </a:lnTo>
                <a:lnTo>
                  <a:pt x="6865858" y="1897598"/>
                </a:lnTo>
                <a:lnTo>
                  <a:pt x="0" y="1897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47160" y="396000"/>
            <a:ext cx="59202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Como foi </a:t>
            </a: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feito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Freeform 6"/>
          <p:cNvSpPr/>
          <p:nvPr/>
        </p:nvSpPr>
        <p:spPr>
          <a:xfrm>
            <a:off x="10560240" y="718920"/>
            <a:ext cx="6838920" cy="2701080"/>
          </a:xfrm>
          <a:custGeom>
            <a:avLst/>
            <a:gdLst>
              <a:gd name="textAreaLeft" fmla="*/ 0 w 6838920"/>
              <a:gd name="textAreaRight" fmla="*/ 6839280 w 6838920"/>
              <a:gd name="textAreaTop" fmla="*/ 0 h 2701080"/>
              <a:gd name="textAreaBottom" fmla="*/ 2701440 h 2701080"/>
            </a:gdLst>
            <a:ahLst/>
            <a:cxnLst/>
            <a:rect l="textAreaLeft" t="textAreaTop" r="textAreaRight" b="textAreaBottom"/>
            <a:pathLst>
              <a:path w="6839320" h="2701434">
                <a:moveTo>
                  <a:pt x="0" y="0"/>
                </a:moveTo>
                <a:lnTo>
                  <a:pt x="6839321" y="0"/>
                </a:lnTo>
                <a:lnTo>
                  <a:pt x="6839321" y="2701434"/>
                </a:lnTo>
                <a:lnTo>
                  <a:pt x="0" y="2701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Freeform 7"/>
          <p:cNvSpPr/>
          <p:nvPr/>
        </p:nvSpPr>
        <p:spPr>
          <a:xfrm>
            <a:off x="10560240" y="7707960"/>
            <a:ext cx="6865560" cy="674640"/>
          </a:xfrm>
          <a:custGeom>
            <a:avLst/>
            <a:gdLst>
              <a:gd name="textAreaLeft" fmla="*/ 0 w 6865560"/>
              <a:gd name="textAreaRight" fmla="*/ 6865920 w 6865560"/>
              <a:gd name="textAreaTop" fmla="*/ 0 h 674640"/>
              <a:gd name="textAreaBottom" fmla="*/ 675000 h 674640"/>
            </a:gdLst>
            <a:ahLst/>
            <a:cxnLst/>
            <a:rect l="textAreaLeft" t="textAreaTop" r="textAreaRight" b="textAreaBottom"/>
            <a:pathLst>
              <a:path w="6865858" h="674949">
                <a:moveTo>
                  <a:pt x="0" y="0"/>
                </a:moveTo>
                <a:lnTo>
                  <a:pt x="6865858" y="0"/>
                </a:lnTo>
                <a:lnTo>
                  <a:pt x="6865858" y="674949"/>
                </a:lnTo>
                <a:lnTo>
                  <a:pt x="0" y="6749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10560240" y="3520440"/>
            <a:ext cx="71308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XOR - Produtos Cruzados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10208520" y="4192560"/>
            <a:ext cx="7799400" cy="24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x e y tem sinais iguais? </a:t>
            </a:r>
            <a:r>
              <a:rPr lang="en-US" sz="2800" b="1" u="none" strike="noStrike">
                <a:solidFill>
                  <a:srgbClr val="49D5ED"/>
                </a:solidFill>
                <a:effectLst/>
                <a:uFillTx/>
                <a:latin typeface="Open Sans Bold"/>
                <a:ea typeface="Open Sans Bold"/>
              </a:rPr>
              <a:t>Classe 0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x e y tem sinais diferentes? </a:t>
            </a:r>
            <a:r>
              <a:rPr lang="en-US" sz="2800" b="1" u="none" strike="noStrike">
                <a:solidFill>
                  <a:srgbClr val="FF4F4F"/>
                </a:solidFill>
                <a:effectLst/>
                <a:uFillTx/>
                <a:latin typeface="Open Sans Bold"/>
                <a:ea typeface="Open Sans Bold"/>
              </a:rPr>
              <a:t>Classe 1 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Calcula-se </a:t>
            </a:r>
            <a:r>
              <a:rPr lang="en-US" sz="2800" b="1" u="none" strike="noStrike">
                <a:solidFill>
                  <a:srgbClr val="F7C87C"/>
                </a:solidFill>
                <a:effectLst/>
                <a:uFillTx/>
                <a:latin typeface="Open Sans Bold"/>
                <a:ea typeface="Open Sans Bold"/>
              </a:rPr>
              <a:t>x*y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 e o Perceptron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aprende a </a:t>
            </a:r>
            <a:r>
              <a:rPr lang="en-US" sz="2800" b="1" u="none" strike="noStrike">
                <a:solidFill>
                  <a:srgbClr val="F7C87C"/>
                </a:solidFill>
                <a:effectLst/>
                <a:uFillTx/>
                <a:latin typeface="Open Sans Bold"/>
                <a:ea typeface="Open Sans Bold"/>
              </a:rPr>
              <a:t>separar o resultado </a:t>
            </a:r>
            <a:r>
              <a:rPr lang="en-US" sz="2800" b="1" u="none" strike="noStrike">
                <a:solidFill>
                  <a:srgbClr val="F7C87C"/>
                </a:solidFill>
                <a:effectLst/>
                <a:uFillTx/>
                <a:latin typeface="Open Sans Bold"/>
                <a:ea typeface="Open Sans Bold"/>
              </a:rPr>
              <a:t>do produto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721800" y="3585240"/>
            <a:ext cx="890964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fit - normalização dos valores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370080" y="4257360"/>
            <a:ext cx="779940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Recebe um par de valores: média e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média ponderada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Recebe a dimensão espacial dos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valores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Deixa cada coluna com média 0 e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"escala" 1, pra nenhuma variável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dominar as outras só por ter </a:t>
            </a: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números maiores.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AutoShape 12"/>
          <p:cNvSpPr/>
          <p:nvPr/>
        </p:nvSpPr>
        <p:spPr>
          <a:xfrm>
            <a:off x="14394960" y="718920"/>
            <a:ext cx="360" cy="2099520"/>
          </a:xfrm>
          <a:prstGeom prst="line">
            <a:avLst/>
          </a:prstGeom>
          <a:ln w="38100">
            <a:solidFill>
              <a:srgbClr val="FFFFFF"/>
            </a:solidFill>
            <a:round/>
            <a:headEnd len="med" type="triangle" w="lg"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AutoShape 13"/>
          <p:cNvSpPr/>
          <p:nvPr/>
        </p:nvSpPr>
        <p:spPr>
          <a:xfrm flipH="1">
            <a:off x="11007000" y="1771200"/>
            <a:ext cx="6411600" cy="360"/>
          </a:xfrm>
          <a:prstGeom prst="line">
            <a:avLst/>
          </a:prstGeom>
          <a:ln w="38100">
            <a:solidFill>
              <a:srgbClr val="FFFFFF"/>
            </a:solidFill>
            <a:round/>
            <a:headEnd len="med" type="triangle" w="lg"/>
            <a:tailEnd len="med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2"/>
          <p:cNvSpPr/>
          <p:nvPr/>
        </p:nvSpPr>
        <p:spPr>
          <a:xfrm>
            <a:off x="-151920" y="8637840"/>
            <a:ext cx="18591480" cy="13943520"/>
          </a:xfrm>
          <a:custGeom>
            <a:avLst/>
            <a:gdLst>
              <a:gd name="textAreaLeft" fmla="*/ 0 w 18591480"/>
              <a:gd name="textAreaRight" fmla="*/ 18591840 w 18591480"/>
              <a:gd name="textAreaTop" fmla="*/ 0 h 13943520"/>
              <a:gd name="textAreaBottom" fmla="*/ 13943880 h 13943520"/>
            </a:gdLst>
            <a:ahLst/>
            <a:cxnLst/>
            <a:rect l="textAreaLeft" t="textAreaTop" r="textAreaRight" b="textAreaBottom"/>
            <a:pathLst>
              <a:path w="18591703" h="13943777">
                <a:moveTo>
                  <a:pt x="0" y="0"/>
                </a:moveTo>
                <a:lnTo>
                  <a:pt x="18591702" y="0"/>
                </a:lnTo>
                <a:lnTo>
                  <a:pt x="18591702" y="13943777"/>
                </a:lnTo>
                <a:lnTo>
                  <a:pt x="0" y="139437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Freeform 3"/>
          <p:cNvSpPr/>
          <p:nvPr/>
        </p:nvSpPr>
        <p:spPr>
          <a:xfrm>
            <a:off x="351720" y="1405800"/>
            <a:ext cx="6748920" cy="2702160"/>
          </a:xfrm>
          <a:custGeom>
            <a:avLst/>
            <a:gdLst>
              <a:gd name="textAreaLeft" fmla="*/ 0 w 6748920"/>
              <a:gd name="textAreaRight" fmla="*/ 6749280 w 6748920"/>
              <a:gd name="textAreaTop" fmla="*/ 0 h 2702160"/>
              <a:gd name="textAreaBottom" fmla="*/ 2702520 h 2702160"/>
            </a:gdLst>
            <a:ahLst/>
            <a:cxnLst/>
            <a:rect l="textAreaLeft" t="textAreaTop" r="textAreaRight" b="textAreaBottom"/>
            <a:pathLst>
              <a:path w="6749180" h="2702444">
                <a:moveTo>
                  <a:pt x="0" y="0"/>
                </a:moveTo>
                <a:lnTo>
                  <a:pt x="6749180" y="0"/>
                </a:lnTo>
                <a:lnTo>
                  <a:pt x="6749180" y="2702445"/>
                </a:lnTo>
                <a:lnTo>
                  <a:pt x="0" y="27024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Freeform 4"/>
          <p:cNvSpPr/>
          <p:nvPr/>
        </p:nvSpPr>
        <p:spPr>
          <a:xfrm>
            <a:off x="351720" y="7707960"/>
            <a:ext cx="6748920" cy="682200"/>
          </a:xfrm>
          <a:custGeom>
            <a:avLst/>
            <a:gdLst>
              <a:gd name="textAreaLeft" fmla="*/ 0 w 6748920"/>
              <a:gd name="textAreaRight" fmla="*/ 6749280 w 6748920"/>
              <a:gd name="textAreaTop" fmla="*/ 0 h 682200"/>
              <a:gd name="textAreaBottom" fmla="*/ 682560 h 682200"/>
            </a:gdLst>
            <a:ahLst/>
            <a:cxnLst/>
            <a:rect l="textAreaLeft" t="textAreaTop" r="textAreaRight" b="textAreaBottom"/>
            <a:pathLst>
              <a:path w="6749180" h="682501">
                <a:moveTo>
                  <a:pt x="0" y="0"/>
                </a:moveTo>
                <a:lnTo>
                  <a:pt x="6749180" y="0"/>
                </a:lnTo>
                <a:lnTo>
                  <a:pt x="6749180" y="682502"/>
                </a:lnTo>
                <a:lnTo>
                  <a:pt x="0" y="6825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Freeform 5"/>
          <p:cNvSpPr/>
          <p:nvPr/>
        </p:nvSpPr>
        <p:spPr>
          <a:xfrm>
            <a:off x="10549800" y="1405800"/>
            <a:ext cx="6709320" cy="2702160"/>
          </a:xfrm>
          <a:custGeom>
            <a:avLst/>
            <a:gdLst>
              <a:gd name="textAreaLeft" fmla="*/ 0 w 6709320"/>
              <a:gd name="textAreaRight" fmla="*/ 6709680 w 6709320"/>
              <a:gd name="textAreaTop" fmla="*/ 0 h 2702160"/>
              <a:gd name="textAreaBottom" fmla="*/ 2702520 h 2702160"/>
            </a:gdLst>
            <a:ahLst/>
            <a:cxnLst/>
            <a:rect l="textAreaLeft" t="textAreaTop" r="textAreaRight" b="textAreaBottom"/>
            <a:pathLst>
              <a:path w="6709516" h="2702444">
                <a:moveTo>
                  <a:pt x="0" y="0"/>
                </a:moveTo>
                <a:lnTo>
                  <a:pt x="6709516" y="0"/>
                </a:lnTo>
                <a:lnTo>
                  <a:pt x="6709516" y="2702445"/>
                </a:lnTo>
                <a:lnTo>
                  <a:pt x="0" y="27024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Freeform 6"/>
          <p:cNvSpPr/>
          <p:nvPr/>
        </p:nvSpPr>
        <p:spPr>
          <a:xfrm>
            <a:off x="11830680" y="7704000"/>
            <a:ext cx="3819240" cy="812880"/>
          </a:xfrm>
          <a:custGeom>
            <a:avLst/>
            <a:gdLst>
              <a:gd name="textAreaLeft" fmla="*/ 0 w 3819240"/>
              <a:gd name="textAreaRight" fmla="*/ 3819600 w 3819240"/>
              <a:gd name="textAreaTop" fmla="*/ 0 h 812880"/>
              <a:gd name="textAreaBottom" fmla="*/ 813240 h 812880"/>
            </a:gdLst>
            <a:ahLst/>
            <a:cxnLst/>
            <a:rect l="textAreaLeft" t="textAreaTop" r="textAreaRight" b="textAreaBottom"/>
            <a:pathLst>
              <a:path w="3819557" h="813062">
                <a:moveTo>
                  <a:pt x="0" y="0"/>
                </a:moveTo>
                <a:lnTo>
                  <a:pt x="3819557" y="0"/>
                </a:lnTo>
                <a:lnTo>
                  <a:pt x="3819557" y="813061"/>
                </a:lnTo>
                <a:lnTo>
                  <a:pt x="0" y="8130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10560240" y="4420800"/>
            <a:ext cx="71308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Círculos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10208520" y="5092920"/>
            <a:ext cx="7799400" cy="20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Dados que x² e y² já foram calculados, o Perceptron deve aprender a somá-los (com um peso de ajuste) pra gerar a reta que mais se ajusta ao problema.  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47160" y="396000"/>
            <a:ext cx="59202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Como foi </a:t>
            </a: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feito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351720" y="4425120"/>
            <a:ext cx="852444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duas luas - curvas senoidais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0" y="5097240"/>
            <a:ext cx="7799400" cy="24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O Perceptron é posto para ajustar as retas senoidais geradas pelo RFF, combinando-as alterando-as com pesos e deslocamentos sorteados uma vez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40"/>
              </a:lnSpc>
            </a:pP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2"/>
          <p:cNvSpPr/>
          <p:nvPr/>
        </p:nvSpPr>
        <p:spPr>
          <a:xfrm>
            <a:off x="-151920" y="9621000"/>
            <a:ext cx="18591480" cy="13943520"/>
          </a:xfrm>
          <a:custGeom>
            <a:avLst/>
            <a:gdLst>
              <a:gd name="textAreaLeft" fmla="*/ 0 w 18591480"/>
              <a:gd name="textAreaRight" fmla="*/ 18591840 w 18591480"/>
              <a:gd name="textAreaTop" fmla="*/ 0 h 13943520"/>
              <a:gd name="textAreaBottom" fmla="*/ 13943880 h 13943520"/>
            </a:gdLst>
            <a:ahLst/>
            <a:cxnLst/>
            <a:rect l="textAreaLeft" t="textAreaTop" r="textAreaRight" b="textAreaBottom"/>
            <a:pathLst>
              <a:path w="18591703" h="13943777">
                <a:moveTo>
                  <a:pt x="0" y="0"/>
                </a:moveTo>
                <a:lnTo>
                  <a:pt x="18591702" y="0"/>
                </a:lnTo>
                <a:lnTo>
                  <a:pt x="18591702" y="13943777"/>
                </a:lnTo>
                <a:lnTo>
                  <a:pt x="0" y="139437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47160" y="396000"/>
            <a:ext cx="59202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Como foi </a:t>
            </a: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feito</a:t>
            </a: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Freeform 4"/>
          <p:cNvSpPr/>
          <p:nvPr/>
        </p:nvSpPr>
        <p:spPr>
          <a:xfrm>
            <a:off x="389160" y="1405800"/>
            <a:ext cx="6686280" cy="2701080"/>
          </a:xfrm>
          <a:custGeom>
            <a:avLst/>
            <a:gdLst>
              <a:gd name="textAreaLeft" fmla="*/ 0 w 6686280"/>
              <a:gd name="textAreaRight" fmla="*/ 6686640 w 6686280"/>
              <a:gd name="textAreaTop" fmla="*/ 0 h 2701080"/>
              <a:gd name="textAreaBottom" fmla="*/ 2701440 h 2701080"/>
            </a:gdLst>
            <a:ahLst/>
            <a:cxnLst/>
            <a:rect l="textAreaLeft" t="textAreaTop" r="textAreaRight" b="textAreaBottom"/>
            <a:pathLst>
              <a:path w="6686770" h="2701434">
                <a:moveTo>
                  <a:pt x="0" y="0"/>
                </a:moveTo>
                <a:lnTo>
                  <a:pt x="6686770" y="0"/>
                </a:lnTo>
                <a:lnTo>
                  <a:pt x="6686770" y="2701434"/>
                </a:lnTo>
                <a:lnTo>
                  <a:pt x="0" y="27014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Freeform 5"/>
          <p:cNvSpPr/>
          <p:nvPr/>
        </p:nvSpPr>
        <p:spPr>
          <a:xfrm>
            <a:off x="5485320" y="1860120"/>
            <a:ext cx="3356640" cy="2474640"/>
          </a:xfrm>
          <a:custGeom>
            <a:avLst/>
            <a:gdLst>
              <a:gd name="textAreaLeft" fmla="*/ 0 w 3356640"/>
              <a:gd name="textAreaRight" fmla="*/ 3357000 w 3356640"/>
              <a:gd name="textAreaTop" fmla="*/ 0 h 2474640"/>
              <a:gd name="textAreaBottom" fmla="*/ 2475000 h 2474640"/>
            </a:gdLst>
            <a:ahLst/>
            <a:cxnLst/>
            <a:rect l="textAreaLeft" t="textAreaTop" r="textAreaRight" b="textAreaBottom"/>
            <a:pathLst>
              <a:path w="3357144" h="2475106">
                <a:moveTo>
                  <a:pt x="0" y="0"/>
                </a:moveTo>
                <a:lnTo>
                  <a:pt x="3357145" y="0"/>
                </a:lnTo>
                <a:lnTo>
                  <a:pt x="3357145" y="2475106"/>
                </a:lnTo>
                <a:lnTo>
                  <a:pt x="0" y="24751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Freeform 6"/>
          <p:cNvSpPr/>
          <p:nvPr/>
        </p:nvSpPr>
        <p:spPr>
          <a:xfrm>
            <a:off x="389160" y="7707960"/>
            <a:ext cx="7518240" cy="1800360"/>
          </a:xfrm>
          <a:custGeom>
            <a:avLst/>
            <a:gdLst>
              <a:gd name="textAreaLeft" fmla="*/ 0 w 7518240"/>
              <a:gd name="textAreaRight" fmla="*/ 7518600 w 7518240"/>
              <a:gd name="textAreaTop" fmla="*/ 0 h 1800360"/>
              <a:gd name="textAreaBottom" fmla="*/ 1800720 h 1800360"/>
            </a:gdLst>
            <a:ahLst/>
            <a:cxnLst/>
            <a:rect l="textAreaLeft" t="textAreaTop" r="textAreaRight" b="textAreaBottom"/>
            <a:pathLst>
              <a:path w="7518601" h="1800571">
                <a:moveTo>
                  <a:pt x="0" y="0"/>
                </a:moveTo>
                <a:lnTo>
                  <a:pt x="7518601" y="0"/>
                </a:lnTo>
                <a:lnTo>
                  <a:pt x="7518601" y="1800571"/>
                </a:lnTo>
                <a:lnTo>
                  <a:pt x="0" y="18005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Freeform 7"/>
          <p:cNvSpPr/>
          <p:nvPr/>
        </p:nvSpPr>
        <p:spPr>
          <a:xfrm>
            <a:off x="10517760" y="4327920"/>
            <a:ext cx="5911200" cy="1633320"/>
          </a:xfrm>
          <a:custGeom>
            <a:avLst/>
            <a:gdLst>
              <a:gd name="textAreaLeft" fmla="*/ 0 w 5911200"/>
              <a:gd name="textAreaRight" fmla="*/ 5911560 w 5911200"/>
              <a:gd name="textAreaTop" fmla="*/ 0 h 1633320"/>
              <a:gd name="textAreaBottom" fmla="*/ 1633680 h 1633320"/>
            </a:gdLst>
            <a:ahLst/>
            <a:cxnLst/>
            <a:rect l="textAreaLeft" t="textAreaTop" r="textAreaRight" b="textAreaBottom"/>
            <a:pathLst>
              <a:path w="5911485" h="1633827">
                <a:moveTo>
                  <a:pt x="0" y="0"/>
                </a:moveTo>
                <a:lnTo>
                  <a:pt x="5911485" y="0"/>
                </a:lnTo>
                <a:lnTo>
                  <a:pt x="5911485" y="1633828"/>
                </a:lnTo>
                <a:lnTo>
                  <a:pt x="0" y="16338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8"/>
          <p:cNvSpPr/>
          <p:nvPr/>
        </p:nvSpPr>
        <p:spPr>
          <a:xfrm>
            <a:off x="10517760" y="6057000"/>
            <a:ext cx="5911200" cy="1703520"/>
          </a:xfrm>
          <a:custGeom>
            <a:avLst/>
            <a:gdLst>
              <a:gd name="textAreaLeft" fmla="*/ 0 w 5911200"/>
              <a:gd name="textAreaRight" fmla="*/ 5911560 w 5911200"/>
              <a:gd name="textAreaTop" fmla="*/ 0 h 1703520"/>
              <a:gd name="textAreaBottom" fmla="*/ 1703880 h 1703520"/>
            </a:gdLst>
            <a:ahLst/>
            <a:cxnLst/>
            <a:rect l="textAreaLeft" t="textAreaTop" r="textAreaRight" b="textAreaBottom"/>
            <a:pathLst>
              <a:path w="5911496" h="1703750">
                <a:moveTo>
                  <a:pt x="0" y="0"/>
                </a:moveTo>
                <a:lnTo>
                  <a:pt x="5911496" y="0"/>
                </a:lnTo>
                <a:lnTo>
                  <a:pt x="5911496" y="1703750"/>
                </a:lnTo>
                <a:lnTo>
                  <a:pt x="0" y="17037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0208520" y="2174040"/>
            <a:ext cx="7799400" cy="20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Quadrados (x², ...) generalizam pra qualquer dimensão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A dimensão do problema foi levada em consideração na maior parte da implementação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351720" y="4425120"/>
            <a:ext cx="885204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Espiral - x e y em Raio e ângulo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0" y="5097240"/>
            <a:ext cx="7799400" cy="24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Transforma x e y em coordenadas polares e as coloca como entradas para RFF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768600" lvl="1" indent="-384480" defTabSz="914400">
              <a:lnSpc>
                <a:spcPts val="3240"/>
              </a:lnSpc>
              <a:buClr>
                <a:srgbClr val="FFF1E7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Ângulo cresce junto com o raio (faz mais sentido se pensar na Espiral de Arquimedes)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10560240" y="1501920"/>
            <a:ext cx="71308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046"/>
              </a:lnSpc>
            </a:pPr>
            <a:r>
              <a:rPr lang="en-US" sz="664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esfera 10d</a:t>
            </a:r>
            <a:endParaRPr lang="pt-BR" sz="6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Freeform 14"/>
          <p:cNvSpPr/>
          <p:nvPr/>
        </p:nvSpPr>
        <p:spPr>
          <a:xfrm>
            <a:off x="10517760" y="7855920"/>
            <a:ext cx="6955920" cy="1665720"/>
          </a:xfrm>
          <a:custGeom>
            <a:avLst/>
            <a:gdLst>
              <a:gd name="textAreaLeft" fmla="*/ 0 w 6955920"/>
              <a:gd name="textAreaRight" fmla="*/ 6956280 w 6955920"/>
              <a:gd name="textAreaTop" fmla="*/ 0 h 1665720"/>
              <a:gd name="textAreaBottom" fmla="*/ 1666080 h 1665720"/>
            </a:gdLst>
            <a:ahLst/>
            <a:cxnLst/>
            <a:rect l="textAreaLeft" t="textAreaTop" r="textAreaRight" b="textAreaBottom"/>
            <a:pathLst>
              <a:path w="6956361" h="1665925">
                <a:moveTo>
                  <a:pt x="0" y="0"/>
                </a:moveTo>
                <a:lnTo>
                  <a:pt x="6956361" y="0"/>
                </a:lnTo>
                <a:lnTo>
                  <a:pt x="6956361" y="1665924"/>
                </a:lnTo>
                <a:lnTo>
                  <a:pt x="0" y="16659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cap="sq" w="19050">
            <a:solidFill>
              <a:srgbClr val="F7C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65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reeform 2"/>
          <p:cNvSpPr/>
          <p:nvPr/>
        </p:nvSpPr>
        <p:spPr>
          <a:xfrm>
            <a:off x="-3985560" y="0"/>
            <a:ext cx="14244840" cy="10683720"/>
          </a:xfrm>
          <a:custGeom>
            <a:avLst/>
            <a:gdLst>
              <a:gd name="textAreaLeft" fmla="*/ 0 w 14244840"/>
              <a:gd name="textAreaRight" fmla="*/ 14245200 w 14244840"/>
              <a:gd name="textAreaTop" fmla="*/ 0 h 10683720"/>
              <a:gd name="textAreaBottom" fmla="*/ 10684080 h 10683720"/>
            </a:gdLst>
            <a:ahLst/>
            <a:cxnLst/>
            <a:rect l="textAreaLeft" t="textAreaTop" r="textAreaRight" b="textAreaBottom"/>
            <a:pathLst>
              <a:path w="14245331" h="10683998">
                <a:moveTo>
                  <a:pt x="0" y="0"/>
                </a:moveTo>
                <a:lnTo>
                  <a:pt x="14245331" y="0"/>
                </a:lnTo>
                <a:lnTo>
                  <a:pt x="14245331" y="10683998"/>
                </a:lnTo>
                <a:lnTo>
                  <a:pt x="0" y="106839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Freeform 3"/>
          <p:cNvSpPr/>
          <p:nvPr/>
        </p:nvSpPr>
        <p:spPr>
          <a:xfrm>
            <a:off x="12484800" y="7409160"/>
            <a:ext cx="3359160" cy="928080"/>
          </a:xfrm>
          <a:custGeom>
            <a:avLst/>
            <a:gdLst>
              <a:gd name="textAreaLeft" fmla="*/ 0 w 3359160"/>
              <a:gd name="textAreaRight" fmla="*/ 3359520 w 3359160"/>
              <a:gd name="textAreaTop" fmla="*/ 0 h 928080"/>
              <a:gd name="textAreaBottom" fmla="*/ 928440 h 928080"/>
            </a:gdLst>
            <a:ahLst/>
            <a:cxnLst/>
            <a:rect l="textAreaLeft" t="textAreaTop" r="textAreaRight" b="textAreaBottom"/>
            <a:pathLst>
              <a:path w="3359354" h="928403">
                <a:moveTo>
                  <a:pt x="0" y="0"/>
                </a:moveTo>
                <a:lnTo>
                  <a:pt x="3359355" y="0"/>
                </a:lnTo>
                <a:lnTo>
                  <a:pt x="3359355" y="928404"/>
                </a:lnTo>
                <a:lnTo>
                  <a:pt x="0" y="9284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reeform 4"/>
          <p:cNvSpPr/>
          <p:nvPr/>
        </p:nvSpPr>
        <p:spPr>
          <a:xfrm>
            <a:off x="15030720" y="7961040"/>
            <a:ext cx="441720" cy="752760"/>
          </a:xfrm>
          <a:custGeom>
            <a:avLst/>
            <a:gdLst>
              <a:gd name="textAreaLeft" fmla="*/ 0 w 441720"/>
              <a:gd name="textAreaRight" fmla="*/ 442080 w 441720"/>
              <a:gd name="textAreaTop" fmla="*/ 0 h 752760"/>
              <a:gd name="textAreaBottom" fmla="*/ 753120 h 752760"/>
            </a:gdLst>
            <a:ahLst/>
            <a:cxnLst/>
            <a:rect l="textAreaLeft" t="textAreaTop" r="textAreaRight" b="textAreaBottom"/>
            <a:pathLst>
              <a:path w="442190" h="752956">
                <a:moveTo>
                  <a:pt x="0" y="0"/>
                </a:moveTo>
                <a:lnTo>
                  <a:pt x="442191" y="0"/>
                </a:lnTo>
                <a:lnTo>
                  <a:pt x="442191" y="752956"/>
                </a:lnTo>
                <a:lnTo>
                  <a:pt x="0" y="752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10577880" y="3823200"/>
            <a:ext cx="7173360" cy="32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FFFFF"/>
                </a:solidFill>
                <a:effectLst/>
                <a:uFillTx/>
                <a:latin typeface="Bebas Neue Cyrillic"/>
                <a:ea typeface="Bebas Neue Cyrillic"/>
              </a:rPr>
              <a:t>Muito Obrigado pela Atenção!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8232"/>
              </a:lnSpc>
            </a:pPr>
            <a:r>
              <a:rPr lang="en-US" sz="9050" b="0" u="none" strike="noStrike">
                <a:solidFill>
                  <a:srgbClr val="F7C87C"/>
                </a:solidFill>
                <a:effectLst/>
                <a:uFillTx/>
                <a:latin typeface="Bebas Neue Cyrillic"/>
                <a:ea typeface="Bebas Neue Cyrillic"/>
              </a:rPr>
              <a:t>Dúvidas?</a:t>
            </a:r>
            <a:endParaRPr lang="pt-BR" sz="9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10259640" y="57240"/>
            <a:ext cx="7995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11"/>
              </a:lnSpc>
            </a:pPr>
            <a:r>
              <a:rPr lang="en-US" sz="2100" b="1" u="none" strike="noStrike">
                <a:solidFill>
                  <a:srgbClr val="FFF1E7"/>
                </a:solidFill>
                <a:effectLst/>
                <a:uFillTx/>
                <a:latin typeface="Open Sans Bold"/>
                <a:ea typeface="Open Sans Bold"/>
              </a:rPr>
              <a:t>Eduardo Martins Barbosa - 12411BCC022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DAHVFXaTbqs</dc:identifier>
  <dc:language>pt-BR</dc:language>
  <cp:lastModifiedBy/>
  <dcterms:modified xsi:type="dcterms:W3CDTF">2026-09-13T18:48:36Z</dcterms:modified>
  <cp:revision>2</cp:revision>
  <dc:subject/>
  <dc:title>Desafio 1: Perceptron para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